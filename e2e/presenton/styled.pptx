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short session is for anyone running their first tutorial this semester. We'll cover five habits that make the hour work for students, and for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anything else, decide what one thing students should be able to do when they walk out. Put it on the board where everyone can see it, and come back to it in the last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tutorial is not a second lecture. Keep your explanation short, then hand over a problem. Most of the learning happens while they work and you move around the room listening.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ask a question, wait. Count to five in your head before you say anything. Then follow up on the answer, even a wrong one, and ask how they got there.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will only try things if getting it wrong feels safe. Tell them about a mistake you made with this material. When someone gets an answer wrong, thank them, and work through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where you started. Point back at the goal, then give everyone one minute to write down what they learned. Read those cards before next week. They'll tell you what to repeat.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0" y="4206240"/>
            <a:ext cx="12191695" cy="2286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1280160"/>
          </a:xfrm>
          <a:prstGeom prst="rect">
            <a:avLst/>
          </a:prstGeom>
          <a:noFill/>
        </p:spPr>
        <p:txBody>
          <a:bodyPr wrap="square">
            <a:spAutoFit/>
          </a:bodyPr>
          <a:lstStyle/>
          <a:p>
            <a:pPr algn="ctr">
              <a:spcAft>
                <a:spcPts val="2700"/>
              </a:spcAft>
            </a:pPr>
            <a:r>
              <a:rPr sz="5400" b="1">
                <a:solidFill>
                  <a:srgbClr val="FCA311"/>
                </a:solidFill>
                <a:latin typeface="Georgia"/>
              </a:rPr>
              <a:t>Running a Good Tutorial</a:t>
            </a:r>
          </a:p>
        </p:txBody>
      </p:sp>
      <p:sp>
        <p:nvSpPr>
          <p:cNvPr id="4" name="TextBox 3"/>
          <p:cNvSpPr txBox="1"/>
          <p:nvPr/>
        </p:nvSpPr>
        <p:spPr>
          <a:xfrm>
            <a:off x="731520" y="4663440"/>
            <a:ext cx="10698480" cy="731520"/>
          </a:xfrm>
          <a:prstGeom prst="rect">
            <a:avLst/>
          </a:prstGeom>
          <a:noFill/>
        </p:spPr>
        <p:txBody>
          <a:bodyPr wrap="square">
            <a:spAutoFit/>
          </a:bodyPr>
          <a:lstStyle/>
          <a:p>
            <a:pPr algn="ctr">
              <a:spcAft>
                <a:spcPts val="1300"/>
              </a:spcAft>
            </a:pPr>
            <a:r>
              <a:rPr sz="2600" b="0">
                <a:solidFill>
                  <a:srgbClr val="F4EFE6"/>
                </a:solidFill>
                <a:latin typeface="Georgia"/>
              </a:rPr>
              <a:t>Five habits for first-time tutors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CA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a:spAutoFit/>
          </a:bodyPr>
          <a:lstStyle/>
          <a:p>
            <a:pPr algn="l">
              <a:spcAft>
                <a:spcPts val="2000"/>
              </a:spcAft>
            </a:pPr>
            <a:r>
              <a:rPr sz="4000" b="1">
                <a:solidFill>
                  <a:srgbClr val="FCA311"/>
                </a:solidFill>
                <a:latin typeface="Georgia"/>
              </a:rPr>
              <a:t>Arrive With One Goal</a:t>
            </a:r>
          </a:p>
        </p:txBody>
      </p:sp>
      <p:sp>
        <p:nvSpPr>
          <p:cNvPr id="4" name="TextBox 3"/>
          <p:cNvSpPr txBox="1"/>
          <p:nvPr/>
        </p:nvSpPr>
        <p:spPr>
          <a:xfrm>
            <a:off x="822960" y="1828800"/>
            <a:ext cx="6583680" cy="4389120"/>
          </a:xfrm>
          <a:prstGeom prst="rect">
            <a:avLst/>
          </a:prstGeom>
          <a:noFill/>
        </p:spPr>
        <p:txBody>
          <a:bodyPr wrap="square">
            <a:spAutoFit/>
          </a:bodyPr>
          <a:lstStyle/>
          <a:p>
            <a:pPr algn="l">
              <a:spcAft>
                <a:spcPts val="1200"/>
              </a:spcAft>
            </a:pPr>
            <a:r>
              <a:rPr sz="2400" b="0">
                <a:solidFill>
                  <a:srgbClr val="F4EFE6"/>
                </a:solidFill>
                <a:latin typeface="Georgia"/>
              </a:rPr>
              <a:t>•  Pick the single thing students should leave able to do</a:t>
            </a:r>
          </a:p>
          <a:p>
            <a:pPr algn="l">
              <a:spcAft>
                <a:spcPts val="1200"/>
              </a:spcAft>
            </a:pPr>
            <a:r>
              <a:rPr sz="2400" b="0">
                <a:solidFill>
                  <a:srgbClr val="F4EFE6"/>
                </a:solidFill>
                <a:latin typeface="Georgia"/>
              </a:rPr>
              <a:t>•  Write it on the board before they arrive</a:t>
            </a:r>
          </a:p>
          <a:p>
            <a:pPr algn="l">
              <a:spcAft>
                <a:spcPts val="1200"/>
              </a:spcAft>
            </a:pPr>
            <a:r>
              <a:rPr sz="2400" b="0">
                <a:solidFill>
                  <a:srgbClr val="F4EFE6"/>
                </a:solidFill>
                <a:latin typeface="Georgia"/>
              </a:rPr>
              <a:t>•  Check against it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CA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a:spAutoFit/>
          </a:bodyPr>
          <a:lstStyle/>
          <a:p>
            <a:pPr algn="l">
              <a:spcAft>
                <a:spcPts val="2000"/>
              </a:spcAft>
            </a:pPr>
            <a:r>
              <a:rPr sz="4000" b="1">
                <a:solidFill>
                  <a:srgbClr val="FCA311"/>
                </a:solidFill>
                <a:latin typeface="Georgia"/>
              </a:rPr>
              <a:t>Talk Less Than Half the Time</a:t>
            </a:r>
          </a:p>
        </p:txBody>
      </p:sp>
      <p:sp>
        <p:nvSpPr>
          <p:cNvPr id="4" name="TextBox 3"/>
          <p:cNvSpPr txBox="1"/>
          <p:nvPr/>
        </p:nvSpPr>
        <p:spPr>
          <a:xfrm>
            <a:off x="822960" y="1828800"/>
            <a:ext cx="6583680" cy="4389120"/>
          </a:xfrm>
          <a:prstGeom prst="rect">
            <a:avLst/>
          </a:prstGeom>
          <a:noFill/>
        </p:spPr>
        <p:txBody>
          <a:bodyPr wrap="square">
            <a:spAutoFit/>
          </a:bodyPr>
          <a:lstStyle/>
          <a:p>
            <a:pPr algn="l">
              <a:spcAft>
                <a:spcPts val="1200"/>
              </a:spcAft>
            </a:pPr>
            <a:r>
              <a:rPr sz="2400" b="0">
                <a:solidFill>
                  <a:srgbClr val="F4EFE6"/>
                </a:solidFill>
                <a:latin typeface="Georgia"/>
              </a:rPr>
              <a:t>•  Explain for ten minutes at most</a:t>
            </a:r>
          </a:p>
          <a:p>
            <a:pPr algn="l">
              <a:spcAft>
                <a:spcPts val="1200"/>
              </a:spcAft>
            </a:pPr>
            <a:r>
              <a:rPr sz="2400" b="0">
                <a:solidFill>
                  <a:srgbClr val="F4EFE6"/>
                </a:solidFill>
                <a:latin typeface="Georgia"/>
              </a:rPr>
              <a:t>•  Then give them a problem to work on</a:t>
            </a:r>
          </a:p>
          <a:p>
            <a:pPr algn="l">
              <a:spcAft>
                <a:spcPts val="1200"/>
              </a:spcAft>
            </a:pPr>
            <a:r>
              <a:rPr sz="2400" b="0">
                <a:solidFill>
                  <a:srgbClr val="F4EFE6"/>
                </a:solidFill>
                <a:latin typeface="Georgia"/>
              </a:rPr>
              <a:t>•  Walk the room and listen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CA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a:spAutoFit/>
          </a:bodyPr>
          <a:lstStyle/>
          <a:p>
            <a:pPr algn="l">
              <a:spcAft>
                <a:spcPts val="2000"/>
              </a:spcAft>
            </a:pPr>
            <a:r>
              <a:rPr sz="4000" b="1">
                <a:solidFill>
                  <a:srgbClr val="FCA311"/>
                </a:solidFill>
                <a:latin typeface="Georgia"/>
              </a:rPr>
              <a:t>Ask, Wait, Follow Up</a:t>
            </a:r>
          </a:p>
        </p:txBody>
      </p:sp>
      <p:sp>
        <p:nvSpPr>
          <p:cNvPr id="4" name="Oval 3"/>
          <p:cNvSpPr/>
          <p:nvPr/>
        </p:nvSpPr>
        <p:spPr>
          <a:xfrm>
            <a:off x="1188720" y="2377440"/>
            <a:ext cx="2377440" cy="2377440"/>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14213D"/>
                </a:solidFill>
              </a:rPr>
              <a:t>Ask</a:t>
            </a:r>
          </a:p>
        </p:txBody>
      </p:sp>
      <p:sp>
        <p:nvSpPr>
          <p:cNvPr id="5" name="Right Arrow 4"/>
          <p:cNvSpPr/>
          <p:nvPr/>
        </p:nvSpPr>
        <p:spPr>
          <a:xfrm>
            <a:off x="3703320" y="3291840"/>
            <a:ext cx="1005840" cy="548640"/>
          </a:xfrm>
          <a:prstGeom prst="rightArrow">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846320" y="2377440"/>
            <a:ext cx="2377440" cy="2377440"/>
          </a:xfrm>
          <a:prstGeom prst="ellipse">
            <a:avLst/>
          </a:prstGeom>
          <a:solidFill>
            <a:srgbClr val="FCA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14213D"/>
                </a:solidFill>
              </a:rPr>
              <a:t>Wait</a:t>
            </a:r>
          </a:p>
        </p:txBody>
      </p:sp>
      <p:sp>
        <p:nvSpPr>
          <p:cNvPr id="7" name="Right Arrow 6"/>
          <p:cNvSpPr/>
          <p:nvPr/>
        </p:nvSpPr>
        <p:spPr>
          <a:xfrm>
            <a:off x="7360920" y="3291840"/>
            <a:ext cx="1005840" cy="548640"/>
          </a:xfrm>
          <a:prstGeom prst="rightArrow">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03920" y="2377440"/>
            <a:ext cx="2377440" cy="2377440"/>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14213D"/>
                </a:solidFill>
              </a:rPr>
              <a:t>Follow 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CA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a:spAutoFit/>
          </a:bodyPr>
          <a:lstStyle/>
          <a:p>
            <a:pPr algn="l">
              <a:spcAft>
                <a:spcPts val="2000"/>
              </a:spcAft>
            </a:pPr>
            <a:r>
              <a:rPr sz="4000" b="1">
                <a:solidFill>
                  <a:srgbClr val="FCA311"/>
                </a:solidFill>
                <a:latin typeface="Georgia"/>
              </a:rPr>
              <a:t>Make Mistakes Normal</a:t>
            </a:r>
          </a:p>
        </p:txBody>
      </p:sp>
      <p:sp>
        <p:nvSpPr>
          <p:cNvPr id="4" name="TextBox 3"/>
          <p:cNvSpPr txBox="1"/>
          <p:nvPr/>
        </p:nvSpPr>
        <p:spPr>
          <a:xfrm>
            <a:off x="822960" y="1828800"/>
            <a:ext cx="6583680" cy="4389120"/>
          </a:xfrm>
          <a:prstGeom prst="rect">
            <a:avLst/>
          </a:prstGeom>
          <a:noFill/>
        </p:spPr>
        <p:txBody>
          <a:bodyPr wrap="square">
            <a:spAutoFit/>
          </a:bodyPr>
          <a:lstStyle/>
          <a:p>
            <a:pPr algn="l">
              <a:spcAft>
                <a:spcPts val="1200"/>
              </a:spcAft>
            </a:pPr>
            <a:r>
              <a:rPr sz="2400" b="0">
                <a:solidFill>
                  <a:srgbClr val="F4EFE6"/>
                </a:solidFill>
                <a:latin typeface="Georgia"/>
              </a:rPr>
              <a:t>•  Share a mistake you made learning this</a:t>
            </a:r>
          </a:p>
          <a:p>
            <a:pPr algn="l">
              <a:spcAft>
                <a:spcPts val="1200"/>
              </a:spcAft>
            </a:pPr>
            <a:r>
              <a:rPr sz="2400" b="0">
                <a:solidFill>
                  <a:srgbClr val="F4EFE6"/>
                </a:solidFill>
                <a:latin typeface="Georgia"/>
              </a:rPr>
              <a:t>•  Thank people for wrong answers</a:t>
            </a:r>
          </a:p>
          <a:p>
            <a:pPr algn="l">
              <a:spcAft>
                <a:spcPts val="1200"/>
              </a:spcAft>
            </a:pPr>
            <a:r>
              <a:rPr sz="2400" b="0">
                <a:solidFill>
                  <a:srgbClr val="F4EFE6"/>
                </a:solidFill>
                <a:latin typeface="Georgia"/>
              </a:rPr>
              <a:t>•  Fix errors together, out 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CA3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1097280"/>
          </a:xfrm>
          <a:prstGeom prst="rect">
            <a:avLst/>
          </a:prstGeom>
          <a:noFill/>
        </p:spPr>
        <p:txBody>
          <a:bodyPr wrap="square">
            <a:spAutoFit/>
          </a:bodyPr>
          <a:lstStyle/>
          <a:p>
            <a:pPr algn="l">
              <a:spcAft>
                <a:spcPts val="2000"/>
              </a:spcAft>
            </a:pPr>
            <a:r>
              <a:rPr sz="4000" b="1">
                <a:solidFill>
                  <a:srgbClr val="FCA311"/>
                </a:solidFill>
                <a:latin typeface="Georgia"/>
              </a:rPr>
              <a:t>Close the Loop</a:t>
            </a:r>
          </a:p>
        </p:txBody>
      </p:sp>
      <p:sp>
        <p:nvSpPr>
          <p:cNvPr id="4" name="TextBox 3"/>
          <p:cNvSpPr txBox="1"/>
          <p:nvPr/>
        </p:nvSpPr>
        <p:spPr>
          <a:xfrm>
            <a:off x="822960" y="1828800"/>
            <a:ext cx="6583680" cy="4389120"/>
          </a:xfrm>
          <a:prstGeom prst="rect">
            <a:avLst/>
          </a:prstGeom>
          <a:noFill/>
        </p:spPr>
        <p:txBody>
          <a:bodyPr wrap="square">
            <a:spAutoFit/>
          </a:bodyPr>
          <a:lstStyle/>
          <a:p>
            <a:pPr algn="l">
              <a:spcAft>
                <a:spcPts val="1200"/>
              </a:spcAft>
            </a:pPr>
            <a:r>
              <a:rPr sz="2400" b="0">
                <a:solidFill>
                  <a:srgbClr val="F4EFE6"/>
                </a:solidFill>
                <a:latin typeface="Georgia"/>
              </a:rPr>
              <a:t>•  Return to the goal on the board</a:t>
            </a:r>
          </a:p>
          <a:p>
            <a:pPr algn="l">
              <a:spcAft>
                <a:spcPts val="1200"/>
              </a:spcAft>
            </a:pPr>
            <a:r>
              <a:rPr sz="2400" b="0">
                <a:solidFill>
                  <a:srgbClr val="F4EFE6"/>
                </a:solidFill>
                <a:latin typeface="Georgia"/>
              </a:rPr>
              <a:t>•  One minute: each student writes what they learned</a:t>
            </a:r>
          </a:p>
          <a:p>
            <a:pPr algn="l">
              <a:spcAft>
                <a:spcPts val="1200"/>
              </a:spcAft>
            </a:pPr>
            <a:r>
              <a:rPr sz="2400" b="0">
                <a:solidFill>
                  <a:srgbClr val="F4EFE6"/>
                </a:solidFill>
                <a:latin typeface="Georgia"/>
              </a:rPr>
              <a:t>•  Read the cards before next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